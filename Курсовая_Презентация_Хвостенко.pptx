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Funnel Sans" pitchFamily="2" charset="0"/>
      <p:regular r:id="rId17"/>
    </p:embeddedFont>
    <p:embeddedFont>
      <p:font typeface="Mona Sans SemiBold" pitchFamily="2" charset="77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381"/>
    <p:restoredTop sz="94610"/>
  </p:normalViewPr>
  <p:slideViewPr>
    <p:cSldViewPr snapToGrid="0" snapToObjects="1">
      <p:cViewPr varScale="1">
        <p:scale>
          <a:sx n="205" d="100"/>
          <a:sy n="205" d="100"/>
        </p:scale>
        <p:origin x="4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1509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pypi.org/project/SpeechRecognition/" TargetMode="External"/><Relationship Id="rId13" Type="http://schemas.openxmlformats.org/officeDocument/2006/relationships/hyperlink" Target="https://github.com/dimortix/tgbotkursach2026" TargetMode="External"/><Relationship Id="rId3" Type="http://schemas.openxmlformats.org/officeDocument/2006/relationships/hyperlink" Target="https://scikit-learn.org/" TargetMode="External"/><Relationship Id="rId7" Type="http://schemas.openxmlformats.org/officeDocument/2006/relationships/hyperlink" Target="https://gtts.readthedocs.io/" TargetMode="External"/><Relationship Id="rId12" Type="http://schemas.openxmlformats.org/officeDocument/2006/relationships/hyperlink" Target="https://t.me/sellphonesssbot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natasha.github.io/" TargetMode="External"/><Relationship Id="rId11" Type="http://schemas.openxmlformats.org/officeDocument/2006/relationships/hyperlink" Target="https://render.com/docs/" TargetMode="External"/><Relationship Id="rId5" Type="http://schemas.openxmlformats.org/officeDocument/2006/relationships/hyperlink" Target="https://docs.python-telegram-bot.org/" TargetMode="External"/><Relationship Id="rId10" Type="http://schemas.openxmlformats.org/officeDocument/2006/relationships/hyperlink" Target="https://docs.docker.com/" TargetMode="External"/><Relationship Id="rId4" Type="http://schemas.openxmlformats.org/officeDocument/2006/relationships/hyperlink" Target="https://www.nltk.org/" TargetMode="External"/><Relationship Id="rId9" Type="http://schemas.openxmlformats.org/officeDocument/2006/relationships/hyperlink" Target="https://github.com/dkulagin/kartaslov/" TargetMode="External"/><Relationship Id="rId1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070595"/>
            <a:ext cx="4722763" cy="1162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Разработка интеллектуального чат-бота для продажи смартфонов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419276"/>
            <a:ext cx="4722763" cy="12713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Курсовая работа по дисциплине «Интеллектуальные системы и технологии» · Вариант 24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Московский Политехнический Университет</a:t>
            </a: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· Министерство науки и высшего образования Российской Федерации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Студент: </a:t>
            </a:r>
            <a:r>
              <a:rPr lang="en-US" sz="9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Хвостенко Дмитрий Борисович</a:t>
            </a: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· 2026 г.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925119" y="3834929"/>
            <a:ext cx="536525" cy="233214"/>
          </a:xfrm>
          <a:prstGeom prst="roundRect">
            <a:avLst>
              <a:gd name="adj" fmla="val 17872"/>
            </a:avLst>
          </a:prstGeom>
          <a:solidFill>
            <a:srgbClr val="E2E4E9"/>
          </a:solidFill>
          <a:ln/>
        </p:spPr>
      </p:sp>
      <p:sp>
        <p:nvSpPr>
          <p:cNvPr id="6" name="Text 3"/>
          <p:cNvSpPr/>
          <p:nvPr/>
        </p:nvSpPr>
        <p:spPr>
          <a:xfrm>
            <a:off x="3999533" y="3872136"/>
            <a:ext cx="844897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PYTHON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4523631" y="3830166"/>
            <a:ext cx="345356" cy="242739"/>
          </a:xfrm>
          <a:prstGeom prst="roundRect">
            <a:avLst>
              <a:gd name="adj" fmla="val 17171"/>
            </a:avLst>
          </a:prstGeom>
          <a:noFill/>
          <a:ln w="4763">
            <a:solidFill>
              <a:srgbClr val="373B4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602807" y="3872136"/>
            <a:ext cx="644203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NLP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4930973" y="3830166"/>
            <a:ext cx="1103412" cy="242739"/>
          </a:xfrm>
          <a:prstGeom prst="roundRect">
            <a:avLst>
              <a:gd name="adj" fmla="val 17171"/>
            </a:avLst>
          </a:prstGeom>
          <a:noFill/>
          <a:ln w="4763">
            <a:solidFill>
              <a:srgbClr val="373B4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10150" y="3872136"/>
            <a:ext cx="1402259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MACHINE LEARNING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096372" y="3830166"/>
            <a:ext cx="875258" cy="242739"/>
          </a:xfrm>
          <a:prstGeom prst="roundRect">
            <a:avLst>
              <a:gd name="adj" fmla="val 17171"/>
            </a:avLst>
          </a:prstGeom>
          <a:noFill/>
          <a:ln w="4763">
            <a:solidFill>
              <a:srgbClr val="373B4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75549" y="3872136"/>
            <a:ext cx="1174105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TELEGRAM BOT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7033617" y="3830166"/>
            <a:ext cx="547762" cy="242739"/>
          </a:xfrm>
          <a:prstGeom prst="roundRect">
            <a:avLst>
              <a:gd name="adj" fmla="val 17171"/>
            </a:avLst>
          </a:prstGeom>
          <a:noFill/>
          <a:ln w="4763">
            <a:solidFill>
              <a:srgbClr val="373B4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12794" y="3872136"/>
            <a:ext cx="846609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DOCKER</a:t>
            </a:r>
            <a:endParaRPr lang="en-US" sz="7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77C99D8-E4DA-30B7-6327-4FB0B876FC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3913" y="4552459"/>
            <a:ext cx="1249285" cy="556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34491"/>
            <a:ext cx="6182990" cy="308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Таблица характеристик и претендуемая оценка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74489" y="800919"/>
            <a:ext cx="7794947" cy="284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В таблице ниже отмечена колонка, на которую претендует данная работа — </a:t>
            </a:r>
            <a:r>
              <a:rPr lang="en-US" sz="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«100% (отл)»</a:t>
            </a:r>
            <a:r>
              <a:rPr lang="en-US" sz="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 Реализованы все требуемые характеристики, включая обработку голоса и дополнительные возможности.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674489" y="1173584"/>
            <a:ext cx="7794947" cy="2224311"/>
          </a:xfrm>
          <a:prstGeom prst="roundRect">
            <a:avLst>
              <a:gd name="adj" fmla="val 186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9252" y="1178347"/>
            <a:ext cx="7785422" cy="24608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8148" y="1230362"/>
            <a:ext cx="4928369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Характеристика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451723" y="1230362"/>
            <a:ext cx="3371329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Уровень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79252" y="1424434"/>
            <a:ext cx="7785422" cy="24608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78148" y="1476449"/>
            <a:ext cx="4928369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Минимальные функции вопрос-ответ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451723" y="1476449"/>
            <a:ext cx="3371329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✓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79252" y="1670521"/>
            <a:ext cx="7785422" cy="24608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78148" y="1722537"/>
            <a:ext cx="4928369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Расширенный список датасета по намерениям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451723" y="1722537"/>
            <a:ext cx="3371329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✓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79252" y="1916609"/>
            <a:ext cx="7785422" cy="24608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78148" y="1968624"/>
            <a:ext cx="4928369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Наличие датасета диалогов dialogues.txt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451723" y="1968624"/>
            <a:ext cx="3371329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✓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79252" y="2162696"/>
            <a:ext cx="7785422" cy="24608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78148" y="2214711"/>
            <a:ext cx="4928369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Использование API Telegram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451723" y="2214711"/>
            <a:ext cx="3371329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✓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79252" y="2408783"/>
            <a:ext cx="7785422" cy="24608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78148" y="2460799"/>
            <a:ext cx="4928369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Использование сценариев рекламы товара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451723" y="2460799"/>
            <a:ext cx="3371329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✓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79252" y="2654871"/>
            <a:ext cx="7785422" cy="24608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78148" y="2706886"/>
            <a:ext cx="4928369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Количество товаров для рекламы (не менее 3)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451723" y="2706886"/>
            <a:ext cx="3371329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✓ (9 шт.)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79252" y="2900958"/>
            <a:ext cx="7785422" cy="24608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78148" y="2952973"/>
            <a:ext cx="4928369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Обработка голосовых команд и ответ голосом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51723" y="2952973"/>
            <a:ext cx="3371329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✓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79252" y="3147045"/>
            <a:ext cx="7785422" cy="24608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78148" y="3199061"/>
            <a:ext cx="4928369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Другие дополнительные возможности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451723" y="3199061"/>
            <a:ext cx="3371329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✓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74489" y="3486448"/>
            <a:ext cx="3858071" cy="692944"/>
          </a:xfrm>
          <a:prstGeom prst="roundRect">
            <a:avLst>
              <a:gd name="adj" fmla="val 5991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073" y="3590032"/>
            <a:ext cx="1329035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Претендуемая оценка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78073" y="3791694"/>
            <a:ext cx="3650903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100% (отлично)</a:t>
            </a:r>
            <a:r>
              <a:rPr lang="en-US" sz="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+ 1 балл на экзамене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611291" y="3486448"/>
            <a:ext cx="3858146" cy="692944"/>
          </a:xfrm>
          <a:prstGeom prst="roundRect">
            <a:avLst>
              <a:gd name="adj" fmla="val 5991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14875" y="3590032"/>
            <a:ext cx="1235571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9 смартфонов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14875" y="3791694"/>
            <a:ext cx="3650977" cy="284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В трёх ценовых сегментах: флагманы, прошлые флагманы, средний класс и бюджет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74489" y="4258121"/>
            <a:ext cx="3858071" cy="550887"/>
          </a:xfrm>
          <a:prstGeom prst="roundRect">
            <a:avLst>
              <a:gd name="adj" fmla="val 7536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8073" y="4361706"/>
            <a:ext cx="1235571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33 намерения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78073" y="4563368"/>
            <a:ext cx="3650903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Классификация на основе ML с точностью 100% на тестовых фразах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611291" y="4258121"/>
            <a:ext cx="3858146" cy="550887"/>
          </a:xfrm>
          <a:prstGeom prst="roundRect">
            <a:avLst>
              <a:gd name="adj" fmla="val 7536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14875" y="4361706"/>
            <a:ext cx="1323008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Голосовой интерфейс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14875" y="4563368"/>
            <a:ext cx="3650977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Распознавание и синтез речи через Google Speech и gTTS</a:t>
            </a:r>
            <a:endParaRPr lang="en-US" sz="75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0C56A2B2-8AA0-555A-07F5-10C593F62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3377" y="4856260"/>
            <a:ext cx="1037080" cy="2563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33747"/>
            <a:ext cx="3550890" cy="320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Введение: цели и задачи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47675" y="782241"/>
            <a:ext cx="4072905" cy="4027438"/>
          </a:xfrm>
          <a:prstGeom prst="roundRect">
            <a:avLst>
              <a:gd name="adj" fmla="val 1836"/>
            </a:avLst>
          </a:prstGeom>
          <a:solidFill>
            <a:srgbClr val="373B48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50366" y="867296"/>
            <a:ext cx="1741215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Актуальность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50366" y="1112862"/>
            <a:ext cx="3867522" cy="750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В настоящее время диалоговые системы (чат-боты) широко применяются в электронной коммерции для консультирования клиентов, ответов на типовые вопросы и продвижения товаров. Чат-боты позволяют автоматизировать значительную часть общения с покупателями, снижая нагрузку на операторов и повышая скорость обслуживания.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0366" y="1948755"/>
            <a:ext cx="1741215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Цель работы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50366" y="2194322"/>
            <a:ext cx="3867522" cy="600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Разработка интеллектуального чат-бота, способного вести диалог с пользователем на различные темы и ненавязчиво переводить беседу на рекламу смартфонов с возможностью оформления заказа (вариант 24 — бот для продажи смартфонов).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702001" y="867296"/>
            <a:ext cx="1741215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Решаемые задачи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0548" y="1128638"/>
            <a:ext cx="154037" cy="15403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35823" y="1123504"/>
            <a:ext cx="3591148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Изучение методов обработки естественного языка (NLP)</a:t>
            </a:r>
            <a:endParaRPr lang="en-US" sz="8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0548" y="1612032"/>
            <a:ext cx="154037" cy="1540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35823" y="1606897"/>
            <a:ext cx="3591148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Реализация классификации намерений пользователя на основе машинного обучения</a:t>
            </a:r>
            <a:endParaRPr lang="en-US" sz="8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0548" y="2095426"/>
            <a:ext cx="154037" cy="15403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35823" y="2090291"/>
            <a:ext cx="3591148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Подключение датасета диалогов для генерации ответов на нетиповые вопросы</a:t>
            </a:r>
            <a:endParaRPr lang="en-US" sz="8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0548" y="2578819"/>
            <a:ext cx="154037" cy="15403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035823" y="2573685"/>
            <a:ext cx="3591148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Реализация рекламных сценариев и каталога из девяти моделей смартфонов</a:t>
            </a:r>
            <a:endParaRPr lang="en-US" sz="8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0548" y="3062213"/>
            <a:ext cx="154037" cy="15403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035823" y="3057079"/>
            <a:ext cx="3591148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Добавление обработки голосовых сообщений (распознавание и синтез речи)</a:t>
            </a:r>
            <a:endParaRPr lang="en-US" sz="8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0548" y="3545607"/>
            <a:ext cx="154037" cy="154037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035823" y="3540472"/>
            <a:ext cx="3591148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Интеграция бота с мессенджером Telegram</a:t>
            </a:r>
            <a:endParaRPr lang="en-US" sz="8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0548" y="4029001"/>
            <a:ext cx="154037" cy="154037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035823" y="4023866"/>
            <a:ext cx="3591148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Контейнеризация приложения и подготовка к облачному развёртыванию</a:t>
            </a:r>
            <a:endParaRPr lang="en-US" sz="800" dirty="0"/>
          </a:p>
        </p:txBody>
      </p:sp>
      <p:sp>
        <p:nvSpPr>
          <p:cNvPr id="23" name="Text 14"/>
          <p:cNvSpPr/>
          <p:nvPr/>
        </p:nvSpPr>
        <p:spPr>
          <a:xfrm>
            <a:off x="4702001" y="4432846"/>
            <a:ext cx="3924970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Программная реализация выполнена на языке </a:t>
            </a:r>
            <a:r>
              <a:rPr lang="en-US" sz="8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Python</a:t>
            </a: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с использованием библиотек </a:t>
            </a:r>
            <a:r>
              <a:rPr lang="en-US" sz="8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scikit-learn, nltk, python-telegram-bot, SpeechRecognition, gTTS</a:t>
            </a: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</a:t>
            </a:r>
            <a:endParaRPr lang="en-US" sz="8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5CEDF5C-C205-6067-BCA6-A1C7328F55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3913" y="4552459"/>
            <a:ext cx="1249285" cy="55682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EC5A38F-BC20-915D-0E90-FD96E61CB8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3377" y="4856260"/>
            <a:ext cx="1037080" cy="2563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219" y="336575"/>
            <a:ext cx="8253487" cy="6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Теоретические основы NLP: очистка, лемматизация и классификация намерений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45219" y="1167259"/>
            <a:ext cx="8253487" cy="308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Обработка естественного языка (Natural Language Processing, NLP) — направление искусственного интеллекта, занимающееся анализом и генерацией текста на естественном языке. В разработанном чат-боте обработка пользовательского ввода проходит несколько последовательных этапов.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45219" y="1575420"/>
            <a:ext cx="2692301" cy="3231505"/>
          </a:xfrm>
          <a:prstGeom prst="roundRect">
            <a:avLst>
              <a:gd name="adj" fmla="val 1633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8CA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9507" y="1589708"/>
            <a:ext cx="2663726" cy="313953"/>
          </a:xfrm>
          <a:prstGeom prst="roundRect">
            <a:avLst>
              <a:gd name="adj" fmla="val 8541"/>
            </a:avLst>
          </a:prstGeom>
          <a:solidFill>
            <a:srgbClr val="E2E4E9"/>
          </a:solidFill>
          <a:ln/>
        </p:spPr>
      </p:sp>
      <p:sp>
        <p:nvSpPr>
          <p:cNvPr id="6" name="Text 4"/>
          <p:cNvSpPr/>
          <p:nvPr/>
        </p:nvSpPr>
        <p:spPr>
          <a:xfrm>
            <a:off x="1712863" y="1646188"/>
            <a:ext cx="156939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4133" y="1991916"/>
            <a:ext cx="2454473" cy="326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Очистка ввода и исправление опечаток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4133" y="2371874"/>
            <a:ext cx="2454473" cy="2316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Перед анализом сообщение пользователя очищается: приводится к нижнему регистру, буква «ё» заменяется на «е», удаляются лишние пробелы и символы, не входящие в допустимый алфавит (кириллица, латиница, цифры). Для устойчивости к опечаткам применяется </a:t>
            </a:r>
            <a:r>
              <a:rPr lang="en-US" sz="8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расстояние Левенштейна</a:t>
            </a: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минимальное количество операций вставки, удаления и замены символов, необходимое для преобразования одной строки в другую. Если очищенная фраза пользователя отличается от эталонного примера не более чем на заданную долю символов, она считается совпадающей. Расстояние вычисляется функцией </a:t>
            </a:r>
            <a:r>
              <a:rPr lang="en-US" sz="8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nltk.edit_distance</a:t>
            </a: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25775" y="1575420"/>
            <a:ext cx="2692301" cy="3231505"/>
          </a:xfrm>
          <a:prstGeom prst="roundRect">
            <a:avLst>
              <a:gd name="adj" fmla="val 1633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8CA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0063" y="1589708"/>
            <a:ext cx="2663726" cy="313953"/>
          </a:xfrm>
          <a:prstGeom prst="roundRect">
            <a:avLst>
              <a:gd name="adj" fmla="val 8541"/>
            </a:avLst>
          </a:prstGeom>
          <a:solidFill>
            <a:srgbClr val="E2E4E9"/>
          </a:solidFill>
          <a:ln/>
        </p:spPr>
      </p:sp>
      <p:sp>
        <p:nvSpPr>
          <p:cNvPr id="11" name="Text 9"/>
          <p:cNvSpPr/>
          <p:nvPr/>
        </p:nvSpPr>
        <p:spPr>
          <a:xfrm>
            <a:off x="4493419" y="1646188"/>
            <a:ext cx="156939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44689" y="1991916"/>
            <a:ext cx="130827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Лемматизация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44689" y="2208386"/>
            <a:ext cx="2454473" cy="1389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Лемматизация — приведение слова к его начальной (словарной) форме. В работе используется библиотека </a:t>
            </a:r>
            <a:r>
              <a:rPr lang="en-US" sz="8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Natasha</a:t>
            </a: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решающая базовые задачи обработки русского языка: сегментацию, морфологический анализ и лемматизацию. Функция </a:t>
            </a:r>
            <a:r>
              <a:rPr lang="en-US" sz="8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lemmatize_phrase</a:t>
            </a: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реализована с «мягкой деградацией»: при отсутствии библиотеки возвращается исходная фраза, что не нарушает работу бота.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006331" y="1575420"/>
            <a:ext cx="2692301" cy="3231505"/>
          </a:xfrm>
          <a:prstGeom prst="roundRect">
            <a:avLst>
              <a:gd name="adj" fmla="val 1633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8CA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20619" y="1589708"/>
            <a:ext cx="2663726" cy="313953"/>
          </a:xfrm>
          <a:prstGeom prst="roundRect">
            <a:avLst>
              <a:gd name="adj" fmla="val 8541"/>
            </a:avLst>
          </a:prstGeom>
          <a:solidFill>
            <a:srgbClr val="E2E4E9"/>
          </a:solidFill>
          <a:ln/>
        </p:spPr>
      </p:sp>
      <p:sp>
        <p:nvSpPr>
          <p:cNvPr id="16" name="Text 14"/>
          <p:cNvSpPr/>
          <p:nvPr/>
        </p:nvSpPr>
        <p:spPr>
          <a:xfrm>
            <a:off x="7273975" y="1646188"/>
            <a:ext cx="156939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5245" y="1991916"/>
            <a:ext cx="2454473" cy="326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Классификация намерений (Intent Classification)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5245" y="2371874"/>
            <a:ext cx="2454473" cy="1544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Намерение (intent) — это цель высказывания пользователя: приветствие, вопрос о цене, желание купить и т. д. Задача классификации намерений — отнести фразу к одному из заранее определённых классов. В боте определено </a:t>
            </a:r>
            <a:r>
              <a:rPr lang="en-US" sz="8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33 намерения</a:t>
            </a: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(приветствие, прощание, выбор по бюджету, карточки товаров, вопросы о камере/батарее/цене, оформление заказа и др.), на которых обучается модель машинного обучения.</a:t>
            </a:r>
            <a:endParaRPr lang="en-US" sz="8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7986586-5368-28A8-F90C-C7E1B9450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3377" y="4856260"/>
            <a:ext cx="1037080" cy="2563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393" y="420439"/>
            <a:ext cx="8682707" cy="333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Анализ тональности, генерация ответов и машинное обучение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26393" y="982489"/>
            <a:ext cx="3155752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Анализ тональности (Sentiment Analysis)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26393" y="1240631"/>
            <a:ext cx="4015606" cy="951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Анализ тональности определяет эмоциональную окраску сообщения. В работе реализован </a:t>
            </a:r>
            <a:r>
              <a:rPr lang="en-US" sz="8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словарный подход</a:t>
            </a: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: каждому слову из тонального словаря присвоен коэффициент от </a:t>
            </a:r>
            <a:r>
              <a:rPr lang="en-US" sz="8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−1 (негатив)</a:t>
            </a: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до </a:t>
            </a:r>
            <a:r>
              <a:rPr lang="en-US" sz="8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+1 (позитив)</a:t>
            </a: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 Тональность фразы вычисляется как среднее значение коэффициентов входящих в неё слов. При сильно негативном тоне (значение ниже </a:t>
            </a:r>
            <a:r>
              <a:rPr lang="en-US" sz="8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−0,3</a:t>
            </a: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) бот выдаёт сочувственный ответ вместо стандартной заглушки.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26393" y="2283693"/>
            <a:ext cx="3042345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Трёхуровневая схема генерации ответа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26393" y="2553221"/>
            <a:ext cx="239837" cy="239837"/>
          </a:xfrm>
          <a:prstGeom prst="roundRect">
            <a:avLst>
              <a:gd name="adj" fmla="val 18668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53" y="2573164"/>
            <a:ext cx="159841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57833" y="2587823"/>
            <a:ext cx="3684166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Если намерение распознано — выбирается заготовленная реплика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26393" y="2976265"/>
            <a:ext cx="239837" cy="239837"/>
          </a:xfrm>
          <a:prstGeom prst="roundRect">
            <a:avLst>
              <a:gd name="adj" fmla="val 18668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53" y="2996208"/>
            <a:ext cx="159841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57833" y="3010867"/>
            <a:ext cx="3684166" cy="3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Если намерение не распознано — поиск похожего вопроса в датасете диалогов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6393" y="3511228"/>
            <a:ext cx="239837" cy="239837"/>
          </a:xfrm>
          <a:prstGeom prst="roundRect">
            <a:avLst>
              <a:gd name="adj" fmla="val 18668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53" y="3531171"/>
            <a:ext cx="159841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3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7833" y="3545830"/>
            <a:ext cx="3684166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Если совпадений нет — стандартная фраза-заглушка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6393" y="3854053"/>
            <a:ext cx="4015606" cy="3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Дополнительно </a:t>
            </a:r>
            <a:r>
              <a:rPr lang="en-US" sz="8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каждое пятое сообщение</a:t>
            </a: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сопровождается ненавязчивой рекламной вставкой.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30043" y="890885"/>
            <a:ext cx="4169048" cy="3832175"/>
          </a:xfrm>
          <a:prstGeom prst="roundRect">
            <a:avLst>
              <a:gd name="adj" fmla="val 2003"/>
            </a:avLst>
          </a:prstGeom>
          <a:solidFill>
            <a:srgbClr val="373B48">
              <a:alpha val="9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736604" y="982489"/>
            <a:ext cx="2373585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Векторизация текста (TF-IDF)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36604" y="1240631"/>
            <a:ext cx="3955926" cy="951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Алгоритмы машинного обучения работают с числовыми данными, поэтому текст необходимо преобразовать в числовые векторы. Используется метод </a:t>
            </a:r>
            <a:r>
              <a:rPr lang="en-US" sz="8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TF-IDF</a:t>
            </a:r>
            <a:r>
              <a:rPr lang="en-US" sz="8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(Term Frequency - Inverse Document Frequency) на уровне </a:t>
            </a:r>
            <a:r>
              <a:rPr lang="en-US" sz="8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символьных n-грамм длиной 2–3 символа</a:t>
            </a:r>
            <a:r>
              <a:rPr lang="en-US" sz="8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 Символьные n-граммы повышают устойчивость к опечаткам, поскольку слова с ошибками сохраняют большинство общих буквосочетаний.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36604" y="2283693"/>
            <a:ext cx="2164705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Классификатор LinearSVC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36604" y="2541836"/>
            <a:ext cx="3955926" cy="792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Для классификации применяется линейный метод опорных векторов (LinearSVC) из библиотеки scikit-learn. Метод опорных векторов строит гиперплоскости, разделяющие классы в многомерном пространстве признаков, и хорошо подходит для задач классификации текста с большим числом признаков.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36604" y="3426321"/>
            <a:ext cx="2174230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Процесс обучения модели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36604" y="3684463"/>
            <a:ext cx="3955926" cy="95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Обучающая выборка формируется из словаря намерений: каждой фразе-примеру сопоставляется метка намерения. В текущей версии модель обучается на </a:t>
            </a:r>
            <a:r>
              <a:rPr lang="en-US" sz="8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354 примерах</a:t>
            </a:r>
            <a:r>
              <a:rPr lang="en-US" sz="8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распределённых по </a:t>
            </a:r>
            <a:r>
              <a:rPr lang="en-US" sz="8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33 классам</a:t>
            </a:r>
            <a:r>
              <a:rPr lang="en-US" sz="8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 После обучения предсказание намерения для новой фразы выполняется методом </a:t>
            </a:r>
            <a:r>
              <a:rPr lang="en-US" sz="800" dirty="0">
                <a:solidFill>
                  <a:srgbClr val="FFFFFF"/>
                </a:solidFill>
                <a:highlight>
                  <a:srgbClr val="44485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clf.predict</a:t>
            </a:r>
            <a:r>
              <a:rPr lang="en-US" sz="8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а для повышения точности результат дополнительно проверяется по расстоянию Левенштейна.</a:t>
            </a:r>
            <a:endParaRPr lang="en-US" sz="8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BAE1E50-95F0-F415-E1CD-339072465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3377" y="4856260"/>
            <a:ext cx="1037080" cy="2563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463972"/>
            <a:ext cx="5525616" cy="36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Архитектура и реализация чат-бота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465162" y="1045369"/>
            <a:ext cx="4052292" cy="1949946"/>
          </a:xfrm>
          <a:prstGeom prst="roundRect">
            <a:avLst>
              <a:gd name="adj" fmla="val 2505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6160" y="1166366"/>
            <a:ext cx="2416522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Словарь намерений BOT_CONFIG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86160" y="1413421"/>
            <a:ext cx="3810298" cy="1460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Центральная структура данных — словарь </a:t>
            </a:r>
            <a:r>
              <a:rPr lang="en-US" sz="9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BOT_CONFIG</a:t>
            </a: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содержащий намерения. Каждое намерение описывается списком примеров (</a:t>
            </a:r>
            <a:r>
              <a:rPr lang="en-US" sz="9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</a:t>
            </a: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) и списком возможных ответов (</a:t>
            </a:r>
            <a:r>
              <a:rPr lang="en-US" sz="9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responses</a:t>
            </a: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). Для контекстных намерений задаются дополнительные ключи </a:t>
            </a:r>
            <a:r>
              <a:rPr lang="en-US" sz="9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theme_gen</a:t>
            </a: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(тема, которую порождает намерение) и </a:t>
            </a:r>
            <a:r>
              <a:rPr lang="en-US" sz="9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theme_app</a:t>
            </a: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(темы, в которых намерение применимо). Пример: намерение </a:t>
            </a:r>
            <a:r>
              <a:rPr lang="en-US" sz="9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'want_smartphone'</a:t>
            </a: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содержит примеры «Хочу смартфон», «Ищу телефон» и ответ «Какой у вас бюджет?».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626471" y="1045369"/>
            <a:ext cx="4052367" cy="1949946"/>
          </a:xfrm>
          <a:prstGeom prst="roundRect">
            <a:avLst>
              <a:gd name="adj" fmla="val 2505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47468" y="1166366"/>
            <a:ext cx="223093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Главный алгоритм работы бота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47468" y="1413421"/>
            <a:ext cx="3810372" cy="1086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Функция </a:t>
            </a:r>
            <a:r>
              <a:rPr lang="en-US" sz="9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bot()</a:t>
            </a: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реализует основной конвейер обработки: проверка состояния оформления заказа → анализ тональности → классификация намерения → выбор ответа по намерению → генерация из датасета → заглушка → добавление рекламы. Такая последовательность обеспечивает корректную обработку как типовых, так и нестандартных сообщений.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5162" y="3104331"/>
            <a:ext cx="4052292" cy="1575197"/>
          </a:xfrm>
          <a:prstGeom prst="roundRect">
            <a:avLst>
              <a:gd name="adj" fmla="val 3101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6160" y="3225329"/>
            <a:ext cx="2338685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Контекстное управление темами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6160" y="3472383"/>
            <a:ext cx="3810298" cy="1086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Для ведения связного диалога бот хранит историю тем (</a:t>
            </a:r>
            <a:r>
              <a:rPr lang="en-US" sz="9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hist_theme</a:t>
            </a: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). Намерения могут быть применимы только в определённых темах, что позволяет корректно интерпретировать короткие ответы («да», «нет») в зависимости от контекста предыдущего вопроса. История тем ведётся отдельно для каждого пользователя Telegram.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26471" y="3104331"/>
            <a:ext cx="4052367" cy="1575197"/>
          </a:xfrm>
          <a:prstGeom prst="roundRect">
            <a:avLst>
              <a:gd name="adj" fmla="val 3101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7468" y="3225329"/>
            <a:ext cx="280243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Машина состояний оформления заказа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47468" y="3472383"/>
            <a:ext cx="3810372" cy="1081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Реализован сценарий оформления заказа. После распознавания намерения «купить» бот запрашивает контактные данные и переводит пользователя в состояние ожидания данных. Следующее сообщение воспринимается как данные заказа, после чего формируется подтверждение с уникальным номером заказа. Предусмотрена возможность отмены оформления.</a:t>
            </a:r>
            <a:endParaRPr lang="en-US" sz="9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BBB1968-9F4B-6779-BDE8-0D2E19A21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3377" y="4856260"/>
            <a:ext cx="1037080" cy="2563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15145" y="274513"/>
            <a:ext cx="4224784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Рекламные сценарии и каталог товаров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515145" y="613693"/>
            <a:ext cx="6113711" cy="20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Каталог содержит </a:t>
            </a:r>
            <a:r>
              <a:rPr lang="en-US" sz="6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девять моделей смартфонов 2026 года</a:t>
            </a: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в трёх ценовых сегментах: флагманы 2026, прошлые флагманы, средний класс и бюджет. Рекламные сценарии реализованы двумя способами: автоматические рекламные вставки (каждое пятое сообщение) и команда </a:t>
            </a:r>
            <a:r>
              <a:rPr lang="en-US" sz="6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/promo</a:t>
            </a: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с актуальными акциями.</a:t>
            </a:r>
            <a:endParaRPr lang="en-US" sz="600" dirty="0"/>
          </a:p>
        </p:txBody>
      </p:sp>
      <p:sp>
        <p:nvSpPr>
          <p:cNvPr id="4" name="Shape 2"/>
          <p:cNvSpPr/>
          <p:nvPr/>
        </p:nvSpPr>
        <p:spPr>
          <a:xfrm>
            <a:off x="1515145" y="869677"/>
            <a:ext cx="6113711" cy="1524446"/>
          </a:xfrm>
          <a:prstGeom prst="roundRect">
            <a:avLst>
              <a:gd name="adj" fmla="val 213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19907" y="874440"/>
            <a:ext cx="6104186" cy="1683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597372" y="908224"/>
            <a:ext cx="2741563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Модель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4041428" y="908224"/>
            <a:ext cx="2128763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Сегмент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5872683" y="908224"/>
            <a:ext cx="2131144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Цена, руб.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1519907" y="1042764"/>
            <a:ext cx="6104186" cy="16832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597372" y="1076548"/>
            <a:ext cx="2741563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Samsung Galaxy S26 Ultra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4041428" y="1076548"/>
            <a:ext cx="2128763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Флагман 2026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5872683" y="1076548"/>
            <a:ext cx="2131144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от 134 990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1519907" y="1211089"/>
            <a:ext cx="6104186" cy="1683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597372" y="1244873"/>
            <a:ext cx="2741563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iPhone 17 Pro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4041428" y="1244873"/>
            <a:ext cx="2128763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Флагман 2026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5872683" y="1244873"/>
            <a:ext cx="2131144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от 129 990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1519907" y="1379413"/>
            <a:ext cx="6104186" cy="16832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597372" y="1413197"/>
            <a:ext cx="2741563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Google Pixel 10 Pro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4041428" y="1413197"/>
            <a:ext cx="2128763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Флагман 2026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5872683" y="1413197"/>
            <a:ext cx="2131144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от 99 990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1519907" y="1547738"/>
            <a:ext cx="6104186" cy="1683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597372" y="1581522"/>
            <a:ext cx="2741563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Xiaomi 16 Pro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4041428" y="1581522"/>
            <a:ext cx="2128763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Флагман 2026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5872683" y="1581522"/>
            <a:ext cx="2131144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от 89 990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1519907" y="1716063"/>
            <a:ext cx="6104186" cy="16832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597372" y="1749847"/>
            <a:ext cx="2741563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Samsung Galaxy S25 Ultra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041428" y="1749847"/>
            <a:ext cx="2128763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Прошлый флагман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5872683" y="1749847"/>
            <a:ext cx="2131144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от 94 990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1519907" y="1884387"/>
            <a:ext cx="6104186" cy="1683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597372" y="1918171"/>
            <a:ext cx="2741563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iPhone 16 Pro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041428" y="1918171"/>
            <a:ext cx="2128763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Прошлый флагман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5872683" y="1918171"/>
            <a:ext cx="2131144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от 89 990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1519907" y="2052712"/>
            <a:ext cx="6104186" cy="16832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597372" y="2086496"/>
            <a:ext cx="2741563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Samsung Galaxy A56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4041428" y="2086496"/>
            <a:ext cx="2128763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Средний класс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5872683" y="2086496"/>
            <a:ext cx="2131144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от 44 990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1519907" y="2221037"/>
            <a:ext cx="6104186" cy="1683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597372" y="2254821"/>
            <a:ext cx="2741563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Redmi Note 14 Pro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041428" y="2254821"/>
            <a:ext cx="2128763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Бюджет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5872683" y="2254821"/>
            <a:ext cx="2131144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от 24 990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1515145" y="2466752"/>
            <a:ext cx="1659731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Команды бота в Telegram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515145" y="2660452"/>
            <a:ext cx="1492076" cy="577007"/>
          </a:xfrm>
          <a:prstGeom prst="roundRect">
            <a:avLst>
              <a:gd name="adj" fmla="val 5643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C8CAC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02135" y="2747442"/>
            <a:ext cx="1318096" cy="20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/start</a:t>
            </a: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Приветствие + список флагманов 2026 в наличии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3055665" y="2660452"/>
            <a:ext cx="1492076" cy="577007"/>
          </a:xfrm>
          <a:prstGeom prst="roundRect">
            <a:avLst>
              <a:gd name="adj" fmla="val 5643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C8CAC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42655" y="2747442"/>
            <a:ext cx="1318096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/help</a:t>
            </a: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Справка: что умеет бот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4596185" y="2660452"/>
            <a:ext cx="1492076" cy="577007"/>
          </a:xfrm>
          <a:prstGeom prst="roundRect">
            <a:avLst>
              <a:gd name="adj" fmla="val 5643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C8CAC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83175" y="2747442"/>
            <a:ext cx="1318096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/catalog</a:t>
            </a: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Полный каталог смартфонов по сегментам (флагманы / прошлые / средний / бюджет)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6136704" y="2660452"/>
            <a:ext cx="1492151" cy="577007"/>
          </a:xfrm>
          <a:prstGeom prst="roundRect">
            <a:avLst>
              <a:gd name="adj" fmla="val 5643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C8CAC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23695" y="2747442"/>
            <a:ext cx="1318171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/promo</a:t>
            </a: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Текущие акции и скидки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1515145" y="3285902"/>
            <a:ext cx="6113711" cy="274737"/>
          </a:xfrm>
          <a:prstGeom prst="roundRect">
            <a:avLst>
              <a:gd name="adj" fmla="val 11852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C8CAC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602135" y="3372892"/>
            <a:ext cx="5939730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/stats</a:t>
            </a: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Статистика диалога: сообщений, точность NLU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1515145" y="3633267"/>
            <a:ext cx="2030164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Возможности бота (текст и голос)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1515145" y="3826966"/>
            <a:ext cx="6113711" cy="1041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8000"/>
              </a:lnSpc>
              <a:buSzPct val="100000"/>
              <a:buChar char="•"/>
            </a:pP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Приветствие/прощание — «привет», «пока»</a:t>
            </a:r>
            <a:endParaRPr lang="en-US" sz="600" dirty="0"/>
          </a:p>
          <a:p>
            <a:pPr marL="342900" indent="-342900" algn="l">
              <a:lnSpc>
                <a:spcPct val="108000"/>
              </a:lnSpc>
              <a:buSzPct val="100000"/>
              <a:buChar char="•"/>
            </a:pP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Подбор по бюджету — «недорогой», «до 50000», «хочу флагман»</a:t>
            </a:r>
            <a:endParaRPr lang="en-US" sz="600" dirty="0"/>
          </a:p>
          <a:p>
            <a:pPr marL="342900" indent="-342900" algn="l">
              <a:lnSpc>
                <a:spcPct val="108000"/>
              </a:lnSpc>
              <a:buSzPct val="100000"/>
              <a:buChar char="•"/>
            </a:pP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Карточки товаров — «расскажи об айфоне», «samsung s26», «xiaomi 16 pro», «redmi note 14»</a:t>
            </a:r>
            <a:endParaRPr lang="en-US" sz="600" dirty="0"/>
          </a:p>
          <a:p>
            <a:pPr marL="342900" indent="-342900" algn="l">
              <a:lnSpc>
                <a:spcPct val="108000"/>
              </a:lnSpc>
              <a:buSzPct val="100000"/>
              <a:buChar char="•"/>
            </a:pP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Характеристики — «какая камера», «долгая батарея», «производительность»</a:t>
            </a:r>
            <a:endParaRPr lang="en-US" sz="600" dirty="0"/>
          </a:p>
          <a:p>
            <a:pPr marL="342900" indent="-342900" algn="l">
              <a:lnSpc>
                <a:spcPct val="108000"/>
              </a:lnSpc>
              <a:buSzPct val="100000"/>
              <a:buChar char="•"/>
            </a:pP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Цены — «сколько стоит», «прайс»</a:t>
            </a:r>
            <a:endParaRPr lang="en-US" sz="600" dirty="0"/>
          </a:p>
          <a:p>
            <a:pPr marL="342900" indent="-342900" algn="l">
              <a:lnSpc>
                <a:spcPct val="108000"/>
              </a:lnSpc>
              <a:buSzPct val="100000"/>
              <a:buChar char="•"/>
            </a:pP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Сравнение — «сравни телефоны», «что лучше»</a:t>
            </a:r>
            <a:endParaRPr lang="en-US" sz="600" dirty="0"/>
          </a:p>
          <a:p>
            <a:pPr marL="342900" indent="-342900" algn="l">
              <a:lnSpc>
                <a:spcPct val="108000"/>
              </a:lnSpc>
              <a:buSzPct val="100000"/>
              <a:buChar char="•"/>
            </a:pP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Покупка — «хочу купить» → ввод данных → подтверждение заказа</a:t>
            </a:r>
            <a:endParaRPr lang="en-US" sz="600" dirty="0"/>
          </a:p>
          <a:p>
            <a:pPr marL="342900" indent="-342900" algn="l">
              <a:lnSpc>
                <a:spcPct val="108000"/>
              </a:lnSpc>
              <a:buSzPct val="100000"/>
              <a:buChar char="•"/>
            </a:pP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Рассрочка / доставка / акции — «рассрочка», «доставка», «скидки»</a:t>
            </a:r>
            <a:endParaRPr lang="en-US" sz="600" dirty="0"/>
          </a:p>
          <a:p>
            <a:pPr marL="342900" indent="-342900" algn="l">
              <a:lnSpc>
                <a:spcPct val="108000"/>
              </a:lnSpc>
              <a:buSzPct val="100000"/>
              <a:buChar char="•"/>
            </a:pPr>
            <a:r>
              <a:rPr lang="en-US" sz="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Светская беседа — «расскажи анекдот», «как дела» (ответы из датасета диалогов)</a:t>
            </a:r>
            <a:endParaRPr lang="en-US" sz="60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CCDEAAEF-0A6D-5921-3B94-890C9669E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3377" y="4856260"/>
            <a:ext cx="1037080" cy="2563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029" y="260375"/>
            <a:ext cx="6877869" cy="545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Датасет диалогов, голосовой интерфейс и интеграция с Telegram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33029" y="958676"/>
            <a:ext cx="2666181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Датасет диалогов и генеративные ответы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3029" y="1156246"/>
            <a:ext cx="3332559" cy="836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Для ответов на нетиповые вопросы используется датасет диалогов (</a:t>
            </a:r>
            <a:r>
              <a:rPr lang="en-US" sz="65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dialogues.txt</a:t>
            </a:r>
            <a:r>
              <a:rPr lang="en-US" sz="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) в формате пар «вопрос — ответ». При загрузке датасет индексируется по словам для ускорения поиска. Когда намерение не распознано, бот ищет наиболее похожий вопрос по </a:t>
            </a:r>
            <a:r>
              <a:rPr lang="en-US" sz="6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расстоянию Левенштейна</a:t>
            </a:r>
            <a:r>
              <a:rPr lang="en-US" sz="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и возвращает соответствующий ответ. Это придаёт диалогу естественность: на фразы вроде «расскажи анекдот» бот отвечает из датасета, плавно возвращая разговор к теме смартфонов.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33029" y="2053679"/>
            <a:ext cx="3301603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Голосовой интерфейс (распознавание и синтез речи)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029" y="2251249"/>
            <a:ext cx="3789759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Бот обрабатывает голосовые сообщения. Цепочка обработки: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33029" y="2438995"/>
            <a:ext cx="174427" cy="1090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01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1133029" y="2577703"/>
            <a:ext cx="3332559" cy="9525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9" name="Text 7"/>
          <p:cNvSpPr/>
          <p:nvPr/>
        </p:nvSpPr>
        <p:spPr>
          <a:xfrm>
            <a:off x="1133029" y="2640360"/>
            <a:ext cx="3332559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Голосовое сообщение (формат OGG) скачивается из Telegram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33029" y="2885852"/>
            <a:ext cx="174427" cy="1090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02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1133029" y="3024560"/>
            <a:ext cx="3332559" cy="9525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2" name="Text 10"/>
          <p:cNvSpPr/>
          <p:nvPr/>
        </p:nvSpPr>
        <p:spPr>
          <a:xfrm>
            <a:off x="1133029" y="3087216"/>
            <a:ext cx="3332559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Конвертируется в формат WAV с помощью утилиты </a:t>
            </a:r>
            <a:r>
              <a:rPr lang="en-US" sz="6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ffmpeg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133029" y="3332708"/>
            <a:ext cx="174427" cy="1090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03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1133029" y="3471416"/>
            <a:ext cx="3332559" cy="9525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5" name="Text 13"/>
          <p:cNvSpPr/>
          <p:nvPr/>
        </p:nvSpPr>
        <p:spPr>
          <a:xfrm>
            <a:off x="1133029" y="3534073"/>
            <a:ext cx="3332559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Распознаётся в текст через сервис Google (библиотека </a:t>
            </a:r>
            <a:r>
              <a:rPr lang="en-US" sz="6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SpeechRecognition</a:t>
            </a:r>
            <a:r>
              <a:rPr lang="en-US" sz="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)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133029" y="3779565"/>
            <a:ext cx="174427" cy="1090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04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133029" y="3918272"/>
            <a:ext cx="3332559" cy="9525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8" name="Text 16"/>
          <p:cNvSpPr/>
          <p:nvPr/>
        </p:nvSpPr>
        <p:spPr>
          <a:xfrm>
            <a:off x="1133029" y="3980929"/>
            <a:ext cx="3332559" cy="237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Ответ бота озвучивается с помощью библиотеки </a:t>
            </a:r>
            <a:r>
              <a:rPr lang="en-US" sz="6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gTTS</a:t>
            </a:r>
            <a:r>
              <a:rPr lang="en-US" sz="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и отправляется пользователю голосовым сообщением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133029" y="4352851"/>
            <a:ext cx="3332559" cy="475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Каждый этап обработки голоса обёрнут в отдельный блок обработки исключений с подробным логированием, что упрощает диагностику. Для распознавания требуется системная утилита </a:t>
            </a:r>
            <a:r>
              <a:rPr lang="en-US" sz="6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flac</a:t>
            </a:r>
            <a:r>
              <a:rPr lang="en-US" sz="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для конвертации — </a:t>
            </a:r>
            <a:r>
              <a:rPr lang="en-US" sz="6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ffmpeg</a:t>
            </a:r>
            <a:r>
              <a:rPr lang="en-US" sz="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; обе устанавливаются в Docker-образе.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4620295" y="897359"/>
            <a:ext cx="3458021" cy="3985692"/>
          </a:xfrm>
          <a:prstGeom prst="roundRect">
            <a:avLst>
              <a:gd name="adj" fmla="val 1816"/>
            </a:avLst>
          </a:prstGeom>
          <a:solidFill>
            <a:srgbClr val="373B48">
              <a:alpha val="9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707508" y="958676"/>
            <a:ext cx="2497857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Интеграция с мессенджером Telegram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07508" y="1156246"/>
            <a:ext cx="3283595" cy="59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Интеграция выполнена через библиотеку </a:t>
            </a:r>
            <a:r>
              <a:rPr lang="en-US" sz="65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python-telegram-bot</a:t>
            </a:r>
            <a:r>
              <a:rPr lang="en-US" sz="6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(версия 13.x). Зарегистрированы обработчики команд </a:t>
            </a:r>
            <a:r>
              <a:rPr lang="en-US" sz="650" dirty="0">
                <a:solidFill>
                  <a:srgbClr val="FFFFFF"/>
                </a:solidFill>
                <a:highlight>
                  <a:srgbClr val="44485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/start</a:t>
            </a:r>
            <a:r>
              <a:rPr lang="en-US" sz="6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</a:t>
            </a:r>
            <a:r>
              <a:rPr lang="en-US" sz="650" dirty="0">
                <a:solidFill>
                  <a:srgbClr val="FFFFFF"/>
                </a:solidFill>
                <a:highlight>
                  <a:srgbClr val="44485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/help</a:t>
            </a:r>
            <a:r>
              <a:rPr lang="en-US" sz="6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</a:t>
            </a:r>
            <a:r>
              <a:rPr lang="en-US" sz="650" dirty="0">
                <a:solidFill>
                  <a:srgbClr val="FFFFFF"/>
                </a:solidFill>
                <a:highlight>
                  <a:srgbClr val="44485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/catalog</a:t>
            </a:r>
            <a:r>
              <a:rPr lang="en-US" sz="6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</a:t>
            </a:r>
            <a:r>
              <a:rPr lang="en-US" sz="650" dirty="0">
                <a:solidFill>
                  <a:srgbClr val="FFFFFF"/>
                </a:solidFill>
                <a:highlight>
                  <a:srgbClr val="44485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/promo</a:t>
            </a:r>
            <a:r>
              <a:rPr lang="en-US" sz="6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</a:t>
            </a:r>
            <a:r>
              <a:rPr lang="en-US" sz="650" dirty="0">
                <a:solidFill>
                  <a:srgbClr val="FFFFFF"/>
                </a:solidFill>
                <a:highlight>
                  <a:srgbClr val="44485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/stats</a:t>
            </a:r>
            <a:r>
              <a:rPr lang="en-US" sz="6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а также обработчики текстовых и голосовых сообщений. Для каждого пользователя ведётся отдельная история тем и состояние заказа. Сетевые таймауты увеличены для надёжной обработки голосовых сообщений.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4707508" y="1816150"/>
            <a:ext cx="3322365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Контейнеризация (Docker) и развёртывание (Render)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07508" y="2013719"/>
            <a:ext cx="3283595" cy="1257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Приложение упаковано в Docker-контейнер на базе образа </a:t>
            </a:r>
            <a:r>
              <a:rPr lang="en-US" sz="650" dirty="0">
                <a:solidFill>
                  <a:srgbClr val="FFFFFF"/>
                </a:solidFill>
                <a:highlight>
                  <a:srgbClr val="44485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python:3.11-slim</a:t>
            </a:r>
            <a:r>
              <a:rPr lang="en-US" sz="6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 В образ устанавливаются системные зависимости (</a:t>
            </a:r>
            <a:r>
              <a:rPr lang="en-US" sz="65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ffmpeg, flac</a:t>
            </a:r>
            <a:r>
              <a:rPr lang="en-US" sz="6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), Python-библиотеки и данные NLTK. Это обеспечивает воспроизводимость и независимость от окружения. Файл </a:t>
            </a:r>
            <a:r>
              <a:rPr lang="en-US" sz="650" dirty="0">
                <a:solidFill>
                  <a:srgbClr val="FFFFFF"/>
                </a:solidFill>
                <a:highlight>
                  <a:srgbClr val="44485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</a:t>
            </a:r>
            <a:r>
              <a:rPr lang="en-US" sz="6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позволяет запустить бота одной командой.</a:t>
            </a:r>
            <a:endParaRPr lang="en-US" sz="6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Для облачного развёртывания на платформе </a:t>
            </a:r>
            <a:r>
              <a:rPr lang="en-US" sz="65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Render</a:t>
            </a:r>
            <a:r>
              <a:rPr lang="en-US" sz="6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подготовлен файл </a:t>
            </a:r>
            <a:r>
              <a:rPr lang="en-US" sz="650" dirty="0">
                <a:solidFill>
                  <a:srgbClr val="FFFFFF"/>
                </a:solidFill>
                <a:highlight>
                  <a:srgbClr val="44485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render.yaml</a:t>
            </a:r>
            <a:r>
              <a:rPr lang="en-US" sz="6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указывающий использовать Docker-рантайм. Поскольку бот работает по принципу опроса (polling) и не принимает HTTP-запросы, в код добавлен вспомогательный HTTP-сервер, удовлетворяющий требованиям веб-сервиса Render.</a:t>
            </a:r>
            <a:endParaRPr lang="en-US" sz="6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9DD9661-99F4-EEAD-C349-F6E5B30AB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3377" y="4856260"/>
            <a:ext cx="1037080" cy="256361"/>
          </a:xfrm>
          <a:prstGeom prst="rect">
            <a:avLst/>
          </a:prstGeom>
        </p:spPr>
      </p:pic>
    </p:spTree>
  </p:cSld>
  <p:clrMapOvr>
    <a:masterClrMapping/>
  </p:clrMapOvr>
  <p:transition spd="slow">
    <p:comb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219" y="343346"/>
            <a:ext cx="3073747" cy="327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Тестирование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45219" y="846981"/>
            <a:ext cx="8698781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Тестирование проводилось в консольном режиме и в реальном мессенджере Telegram. Проверены следующие сценарии: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8316" y="1101998"/>
            <a:ext cx="235446" cy="259035"/>
          </a:xfrm>
          <a:prstGeom prst="roundRect">
            <a:avLst>
              <a:gd name="adj" fmla="val 14564"/>
            </a:avLst>
          </a:prstGeom>
          <a:solidFill>
            <a:srgbClr val="DFDFE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29" y="1177007"/>
            <a:ext cx="130820" cy="10462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45219" y="1472729"/>
            <a:ext cx="174642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Классификация намерений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45219" y="1689199"/>
            <a:ext cx="4071565" cy="308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Точность распознавания на тестовых фразах — </a:t>
            </a:r>
            <a:r>
              <a:rPr lang="en-US" sz="8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100%</a:t>
            </a: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 Проверена устойчивость к опечаткам: например, «хачу афон» → намерение «iphone».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640238" y="1101998"/>
            <a:ext cx="235446" cy="259035"/>
          </a:xfrm>
          <a:prstGeom prst="roundRect">
            <a:avLst>
              <a:gd name="adj" fmla="val 14564"/>
            </a:avLst>
          </a:prstGeom>
          <a:solidFill>
            <a:srgbClr val="DFDFE0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551" y="1177007"/>
            <a:ext cx="130820" cy="1046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27141" y="1472729"/>
            <a:ext cx="1563142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Распознавание моделей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627141" y="1689199"/>
            <a:ext cx="4071565" cy="308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Корректное распознавание моделей, заданных латиницей и с цифрами: </a:t>
            </a:r>
            <a:r>
              <a:rPr lang="en-US" sz="8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iPhone 17 Pro, Redmi Note 14</a:t>
            </a: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и другие.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458316" y="2175867"/>
            <a:ext cx="235446" cy="259035"/>
          </a:xfrm>
          <a:prstGeom prst="roundRect">
            <a:avLst>
              <a:gd name="adj" fmla="val 14564"/>
            </a:avLst>
          </a:prstGeom>
          <a:solidFill>
            <a:srgbClr val="DFDFE0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29" y="2250877"/>
            <a:ext cx="130820" cy="10462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5219" y="2546598"/>
            <a:ext cx="1406500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Генеративные ответы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45219" y="2763069"/>
            <a:ext cx="4071565" cy="308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Проверены генеративные ответы из датасета диалогов и реакция на </a:t>
            </a:r>
            <a:r>
              <a:rPr lang="en-US" sz="8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негативную тональность</a:t>
            </a: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сообщения.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4640238" y="2175867"/>
            <a:ext cx="235446" cy="259035"/>
          </a:xfrm>
          <a:prstGeom prst="roundRect">
            <a:avLst>
              <a:gd name="adj" fmla="val 14564"/>
            </a:avLst>
          </a:prstGeom>
          <a:solidFill>
            <a:srgbClr val="DFDFE0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551" y="2250877"/>
            <a:ext cx="130820" cy="10462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627141" y="2546598"/>
            <a:ext cx="130827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Оформление заказа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4627141" y="2763069"/>
            <a:ext cx="4071565" cy="308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Полный сценарий оформления заказа с подтверждением, включая возможность отмены.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458316" y="3249737"/>
            <a:ext cx="235446" cy="259035"/>
          </a:xfrm>
          <a:prstGeom prst="roundRect">
            <a:avLst>
              <a:gd name="adj" fmla="val 14564"/>
            </a:avLst>
          </a:prstGeom>
          <a:solidFill>
            <a:srgbClr val="DFDFE0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29" y="3324746"/>
            <a:ext cx="130820" cy="10462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45219" y="3620467"/>
            <a:ext cx="1446386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Голосовые сообщения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445219" y="3836938"/>
            <a:ext cx="4071565" cy="308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Обработка голосовых сообщений (распознавание и синтез речи) — полная цепочка от OGG до голосового ответа.</a:t>
            </a:r>
            <a:endParaRPr lang="en-US" sz="800" dirty="0"/>
          </a:p>
        </p:txBody>
      </p:sp>
      <p:sp>
        <p:nvSpPr>
          <p:cNvPr id="24" name="Shape 17"/>
          <p:cNvSpPr/>
          <p:nvPr/>
        </p:nvSpPr>
        <p:spPr>
          <a:xfrm>
            <a:off x="4640238" y="3249737"/>
            <a:ext cx="235446" cy="259035"/>
          </a:xfrm>
          <a:prstGeom prst="roundRect">
            <a:avLst>
              <a:gd name="adj" fmla="val 14564"/>
            </a:avLst>
          </a:prstGeom>
          <a:solidFill>
            <a:srgbClr val="DFDFE0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551" y="3324746"/>
            <a:ext cx="130820" cy="10462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627141" y="3620467"/>
            <a:ext cx="130827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Граничные случаи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4627141" y="3836938"/>
            <a:ext cx="4071565" cy="4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Пустой ввод, бессмысленные длинные фразы. В ходе тестирования выявлены и устранены дефекты: ошибка порядка определения функций, потеря латинских символов при очистке ввода, отсутствие утилиты </a:t>
            </a:r>
            <a:r>
              <a:rPr lang="en-US" sz="8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flac</a:t>
            </a: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в контейнере.</a:t>
            </a:r>
            <a:endParaRPr lang="en-US" sz="800" dirty="0"/>
          </a:p>
        </p:txBody>
      </p:sp>
      <p:sp>
        <p:nvSpPr>
          <p:cNvPr id="28" name="Shape 20"/>
          <p:cNvSpPr/>
          <p:nvPr/>
        </p:nvSpPr>
        <p:spPr>
          <a:xfrm>
            <a:off x="445219" y="4399508"/>
            <a:ext cx="8253487" cy="400571"/>
          </a:xfrm>
          <a:prstGeom prst="roundRect">
            <a:avLst>
              <a:gd name="adj" fmla="val 10974"/>
            </a:avLst>
          </a:prstGeom>
          <a:solidFill>
            <a:srgbClr val="B6FCB8"/>
          </a:solidFill>
          <a:ln/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846" y="4552950"/>
            <a:ext cx="130820" cy="10462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85292" y="4513883"/>
            <a:ext cx="8265988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После исправлений все функции работают корректно. Поставленные цель и задачи полностью достигнуты.</a:t>
            </a:r>
            <a:endParaRPr lang="en-US" sz="8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8ED4390-88F2-1C6F-26CF-38EF05C898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3377" y="4856260"/>
            <a:ext cx="1037080" cy="2563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1" y="329580"/>
            <a:ext cx="3865438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Заключение и источники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362322" y="822424"/>
            <a:ext cx="4154463" cy="3991496"/>
          </a:xfrm>
          <a:prstGeom prst="roundRect">
            <a:avLst>
              <a:gd name="adj" fmla="val 1993"/>
            </a:avLst>
          </a:prstGeom>
          <a:solidFill>
            <a:srgbClr val="373B48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72753" y="920800"/>
            <a:ext cx="1838176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Итоги работы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2753" y="1191816"/>
            <a:ext cx="3933602" cy="924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spcAft>
                <a:spcPts val="65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В результате выполнения курсовой работы разработан интеллектуальный чат-бот для продажи смартфонов, удовлетворяющий всем требованиям задания, включая обработку голосовых сообщений и дополнительные возможности.</a:t>
            </a:r>
            <a:endParaRPr lang="en-US" sz="8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Реализованы методы обработки естественного языка: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72753" y="2204591"/>
            <a:ext cx="3933602" cy="1307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Очистка ввода и исправление опечаток на основе расстояния Левенштейна</a:t>
            </a:r>
            <a:endParaRPr lang="en-US" sz="85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Лемматизация (библиотека Natasha)</a:t>
            </a:r>
            <a:endParaRPr lang="en-US" sz="85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Анализ тональности (словарный подход)</a:t>
            </a:r>
            <a:endParaRPr lang="en-US" sz="85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Классификация намерений с помощью машинного обучения (TF-IDF + LinearSVC)</a:t>
            </a:r>
            <a:endParaRPr lang="en-US" sz="85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Генерация ответов из датасета диалогов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72753" y="3600599"/>
            <a:ext cx="3933602" cy="835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Бот ведёт связный диалог с учётом контекста, плавно переводит беседу на рекламу </a:t>
            </a:r>
            <a:r>
              <a:rPr lang="en-US" sz="85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девяти моделей смартфонов</a:t>
            </a:r>
            <a:r>
              <a:rPr lang="en-US" sz="8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поддерживает оформление заказа и обрабатывает голосовые сообщения. Приложение контейнеризовано с помощью </a:t>
            </a:r>
            <a:r>
              <a:rPr lang="en-US" sz="85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Docker</a:t>
            </a:r>
            <a:r>
              <a:rPr lang="en-US" sz="8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и подготовлено к развёртыванию в облаке (Render). Поставленные цель и задачи полностью достигнуты.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711526" y="920800"/>
            <a:ext cx="2934221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Список использованных источников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11526" y="1191816"/>
            <a:ext cx="3995365" cy="2816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6000"/>
              </a:lnSpc>
              <a:buSzPct val="100000"/>
              <a:buFont typeface="+mj-lt"/>
              <a:buAutoNum type="arabicPeriod"/>
            </a:pP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Bird S., Klein E., Loper E. </a:t>
            </a:r>
            <a:r>
              <a:rPr lang="en-US" sz="850" i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Natural Language Processing with Python.</a:t>
            </a: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O'Reilly Media, 2009.</a:t>
            </a:r>
            <a:endParaRPr lang="en-US" sz="850" dirty="0"/>
          </a:p>
          <a:p>
            <a:pPr marL="342900" indent="-342900" algn="l">
              <a:lnSpc>
                <a:spcPct val="126000"/>
              </a:lnSpc>
              <a:buSzPct val="100000"/>
              <a:buFont typeface="+mj-lt"/>
              <a:buAutoNum type="arabicPeriod" startAt="2"/>
            </a:pP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Документация библиотеки scikit-learn. — </a:t>
            </a:r>
            <a:r>
              <a:rPr lang="en-US" sz="850" u="sng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https://scikit-learn.org/</a:t>
            </a:r>
            <a:endParaRPr lang="en-US" sz="850" dirty="0"/>
          </a:p>
          <a:p>
            <a:pPr marL="342900" indent="-342900" algn="l">
              <a:lnSpc>
                <a:spcPct val="126000"/>
              </a:lnSpc>
              <a:buSzPct val="100000"/>
              <a:buFont typeface="+mj-lt"/>
              <a:buAutoNum type="arabicPeriod" startAt="3"/>
            </a:pP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Документация библиотеки NLTK. — </a:t>
            </a:r>
            <a:r>
              <a:rPr lang="en-US" sz="850" u="sng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https://www.nltk.org/</a:t>
            </a:r>
            <a:endParaRPr lang="en-US" sz="850" dirty="0"/>
          </a:p>
          <a:p>
            <a:pPr marL="342900" indent="-342900" algn="l">
              <a:lnSpc>
                <a:spcPct val="126000"/>
              </a:lnSpc>
              <a:buSzPct val="100000"/>
              <a:buFont typeface="+mj-lt"/>
              <a:buAutoNum type="arabicPeriod" startAt="4"/>
            </a:pP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Документация python-telegram-bot. — </a:t>
            </a:r>
            <a:r>
              <a:rPr lang="en-US" sz="850" u="sng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https://docs.python-telegram-bot.org/</a:t>
            </a:r>
            <a:endParaRPr lang="en-US" sz="850" dirty="0"/>
          </a:p>
          <a:p>
            <a:pPr marL="342900" indent="-342900" algn="l">
              <a:lnSpc>
                <a:spcPct val="126000"/>
              </a:lnSpc>
              <a:buSzPct val="100000"/>
              <a:buFont typeface="+mj-lt"/>
              <a:buAutoNum type="arabicPeriod" startAt="5"/>
            </a:pP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Проект Natasha — обработка естественного русского языка. — </a:t>
            </a:r>
            <a:r>
              <a:rPr lang="en-US" sz="850" u="sng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https://natasha.github.io/</a:t>
            </a:r>
            <a:endParaRPr lang="en-US" sz="850" dirty="0"/>
          </a:p>
          <a:p>
            <a:pPr marL="342900" indent="-342900" algn="l">
              <a:lnSpc>
                <a:spcPct val="126000"/>
              </a:lnSpc>
              <a:buSzPct val="100000"/>
              <a:buFont typeface="+mj-lt"/>
              <a:buAutoNum type="arabicPeriod" startAt="6"/>
            </a:pP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Документация библиотеки gTTS. — </a:t>
            </a:r>
            <a:r>
              <a:rPr lang="en-US" sz="850" u="sng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https://gtts.readthedocs.io/</a:t>
            </a:r>
            <a:endParaRPr lang="en-US" sz="850" dirty="0"/>
          </a:p>
          <a:p>
            <a:pPr marL="342900" indent="-342900" algn="l">
              <a:lnSpc>
                <a:spcPct val="126000"/>
              </a:lnSpc>
              <a:buSzPct val="100000"/>
              <a:buFont typeface="+mj-lt"/>
              <a:buAutoNum type="arabicPeriod" startAt="7"/>
            </a:pP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Документация SpeechRecognition. — </a:t>
            </a:r>
            <a:r>
              <a:rPr lang="en-US" sz="850" u="sng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https://pypi.org/project/SpeechRecognition/</a:t>
            </a:r>
            <a:endParaRPr lang="en-US" sz="850" dirty="0"/>
          </a:p>
          <a:p>
            <a:pPr marL="342900" indent="-342900" algn="l">
              <a:lnSpc>
                <a:spcPct val="126000"/>
              </a:lnSpc>
              <a:buSzPct val="100000"/>
              <a:buFont typeface="+mj-lt"/>
              <a:buAutoNum type="arabicPeriod" startAt="8"/>
            </a:pP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Тональный словарь русского языка KartaSlov. — </a:t>
            </a:r>
            <a:r>
              <a:rPr lang="en-US" sz="850" u="sng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https://github.com/dkulagin/kartaslov/</a:t>
            </a:r>
            <a:endParaRPr lang="en-US" sz="850" dirty="0"/>
          </a:p>
          <a:p>
            <a:pPr marL="342900" indent="-342900" algn="l">
              <a:lnSpc>
                <a:spcPct val="126000"/>
              </a:lnSpc>
              <a:buSzPct val="100000"/>
              <a:buFont typeface="+mj-lt"/>
              <a:buAutoNum type="arabicPeriod" startAt="9"/>
            </a:pP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Документация Docker. — </a:t>
            </a:r>
            <a:r>
              <a:rPr lang="en-US" sz="850" u="sng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https://docs.docker.com/</a:t>
            </a:r>
            <a:endParaRPr lang="en-US" sz="850" dirty="0"/>
          </a:p>
          <a:p>
            <a:pPr marL="342900" indent="-342900" algn="l">
              <a:lnSpc>
                <a:spcPct val="126000"/>
              </a:lnSpc>
              <a:buSzPct val="100000"/>
              <a:buFont typeface="+mj-lt"/>
              <a:buAutoNum type="arabicPeriod" startAt="10"/>
            </a:pP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Документация платформы Render. — </a:t>
            </a:r>
            <a:r>
              <a:rPr lang="en-US" sz="850" u="sng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https://render.com/docs/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11526" y="4146500"/>
            <a:ext cx="3995365" cy="8260"/>
          </a:xfrm>
          <a:prstGeom prst="rect">
            <a:avLst/>
          </a:prstGeom>
          <a:solidFill>
            <a:srgbClr val="52586B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711526" y="4293022"/>
            <a:ext cx="3995365" cy="432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🤖</a:t>
            </a: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Ссылка на бота: </a:t>
            </a:r>
            <a:r>
              <a:rPr lang="en-US" sz="850" u="sng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https://t.me/sellphonesssbot</a:t>
            </a:r>
            <a:endParaRPr lang="en-US" sz="8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💻</a:t>
            </a: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Исходный код: </a:t>
            </a:r>
            <a:r>
              <a:rPr lang="en-US" sz="850" u="sng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https://github.com/dimortix/tgbotkursach2026</a:t>
            </a:r>
            <a:endParaRPr lang="en-US" sz="8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6CC5C48-861C-E8E5-A2FB-51FDC2F0A55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63377" y="4856260"/>
            <a:ext cx="1037080" cy="2563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2239</Words>
  <Application>Microsoft Macintosh PowerPoint</Application>
  <PresentationFormat>On-screen Show (16:9)</PresentationFormat>
  <Paragraphs>200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Funnel Sans</vt:lpstr>
      <vt:lpstr>Mona Sans SemiBold</vt:lpstr>
      <vt:lpstr>Mona Sans Light</vt:lpstr>
      <vt:lpstr>Consolas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Dimortix</cp:lastModifiedBy>
  <cp:revision>3</cp:revision>
  <dcterms:created xsi:type="dcterms:W3CDTF">2026-05-21T22:18:25Z</dcterms:created>
  <dcterms:modified xsi:type="dcterms:W3CDTF">2026-06-15T14:48:15Z</dcterms:modified>
</cp:coreProperties>
</file>